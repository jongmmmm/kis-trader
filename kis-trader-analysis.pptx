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</a:defRPr>
            </a:pPr>
            <a:r>
              <a:t>KIS-TRADER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한국투자증권 Open API 기반 자동매매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코드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4DFF"/>
                </a:solidFill>
              </a:defRPr>
            </a:pPr>
            <a:r>
              <a:t>Flask  |  SQLAlchemy  |  APScheduler  |  REST API  |  SSE  |  ML (scikit-learn)  |  RAG AI Analyzer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1. 프로젝트 개요 &amp; 기술 스택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2. 전체 아키텍처 &amp; 파일 구조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3. 핵심 모듈: KIS API 래퍼 (kis_api.py)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4. 데이터 모델 (models.py)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5. 매매 전략 엔진 (strategies/)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6. RAG AI 분석기 (ai_analyzer.py)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7. 스케줄러 &amp; 자동화 (scheduler.py)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8. 웹 API &amp; 라우터 (routers/)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9. 실시간 경매 알림 (SSE)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10. 시스템 흐름도 (End-to-End Flow)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>
                <a:solidFill>
                  <a:srgbClr val="7C4DFF"/>
                </a:solidFill>
              </a:rPr>
              <a:t>  &gt;  </a:t>
            </a:r>
            <a:r>
              <a:rPr sz="2000">
                <a:solidFill>
                  <a:srgbClr val="FFFFFF"/>
                </a:solidFill>
              </a:rPr>
              <a:t>11. 주요 특징 &amp; 개선 포인트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1. 프로젝트 개요 &amp; 기술 스택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</a:defRPr>
            </a:pPr>
            <a:r>
              <a:t>한국투자증권(KIS) Open API를 활용한 주식 자동매매 웹 애플리케이션.</a:t>
            </a:r>
            <a:br/>
            <a:r>
              <a:t>모의투자/실전투자 모드 전환, 4가지 매매 전략, AI 분석, 실시간 경매 알림을 제공합니다.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286000"/>
            <a:ext cx="2743200" cy="3840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Flask 3.1 (웹 프레임워크)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Flask-SQLAlchemy (ORM)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SQLite (데이터베이스)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APScheduler (스케줄링)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286000"/>
            <a:ext cx="2743200" cy="3840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</a:defRPr>
            </a:pPr>
            <a:r>
              <a:t>Data &amp;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7432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pandas (데이터 처리)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ta (기술적 지표 라이브러리)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scikit-learn (RandomForest)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joblib (모델 직렬화)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2743200" cy="3840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</a:defRPr>
            </a:pPr>
            <a:r>
              <a:t>API &amp; 통신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432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requests (KIS API 호출)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SSE (Server-Sent Events)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REST API (JSON)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python-dotenv (환경변수)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286000"/>
            <a:ext cx="2743200" cy="3840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</a:defRPr>
            </a:pPr>
            <a:r>
              <a:t>운영 모드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7432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모의투자 (paper) 모드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실전투자 (real) 모드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런타임 모드 전환 지원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별도 API 키/계좌 분리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2. 전체 아키텍처 &amp; 파일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D2FF"/>
                </a:solidFill>
              </a:rPr>
              <a:t>  &gt;  </a:t>
            </a:r>
            <a:r>
              <a:rPr sz="1500">
                <a:solidFill>
                  <a:srgbClr val="FFFFFF"/>
                </a:solidFill>
              </a:rPr>
              <a:t>run.py               - 애플리케이션 진입점 (port 6001)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D2FF"/>
                </a:solidFill>
              </a:rPr>
              <a:t>  &gt;  </a:t>
            </a:r>
            <a:r>
              <a:rPr sz="1500">
                <a:solidFill>
                  <a:srgbClr val="FFFFFF"/>
                </a:solidFill>
              </a:rPr>
              <a:t>app.py               - Flask 앱 팩토리 (create_app)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D2FF"/>
                </a:solidFill>
              </a:rPr>
              <a:t>  &gt;  </a:t>
            </a:r>
            <a:r>
              <a:rPr sz="1500">
                <a:solidFill>
                  <a:srgbClr val="FFFFFF"/>
                </a:solidFill>
              </a:rPr>
              <a:t>config.py            - 환경 설정 (API 키, URL, 스케줄러 간격)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D2FF"/>
                </a:solidFill>
              </a:rPr>
              <a:t>  &gt;  </a:t>
            </a:r>
            <a:r>
              <a:rPr sz="1500">
                <a:solidFill>
                  <a:srgbClr val="FFFFFF"/>
                </a:solidFill>
              </a:rPr>
              <a:t>db.py                - SQLAlchemy 인스턴스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D2FF"/>
                </a:solidFill>
              </a:rPr>
              <a:t>  &gt;  </a:t>
            </a:r>
            <a:r>
              <a:rPr sz="1500">
                <a:solidFill>
                  <a:srgbClr val="FFFFFF"/>
                </a:solidFill>
              </a:rPr>
              <a:t>models.py            - DB 모델 5개 (Strategy, Order, AuctionAlert ...)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D2FF"/>
                </a:solidFill>
              </a:rPr>
              <a:t>  &gt;  </a:t>
            </a:r>
            <a:r>
              <a:rPr sz="1500">
                <a:solidFill>
                  <a:srgbClr val="FFFFFF"/>
                </a:solidFill>
              </a:rPr>
              <a:t>kis_api.py           - KIS Open API 래퍼 (7개 함수)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D2FF"/>
                </a:solidFill>
              </a:rPr>
              <a:t>  &gt;  </a:t>
            </a:r>
            <a:r>
              <a:rPr sz="1500">
                <a:solidFill>
                  <a:srgbClr val="FFFFFF"/>
                </a:solidFill>
              </a:rPr>
              <a:t>scheduler.py         - APScheduler 초기화 &amp; 4개 Job 등록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D2FF"/>
                </a:solidFill>
              </a:rPr>
              <a:t>  &gt;  </a:t>
            </a:r>
            <a:r>
              <a:rPr sz="1500">
                <a:solidFill>
                  <a:srgbClr val="FFFFFF"/>
                </a:solidFill>
              </a:rPr>
              <a:t>routers/             - Blueprint 5개 (dashboard, strategies, orders, auction, settings)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0D2FF"/>
                </a:solidFill>
              </a:rPr>
              <a:t>  &gt;  </a:t>
            </a:r>
            <a:r>
              <a:rPr sz="1500">
                <a:solidFill>
                  <a:srgbClr val="FFFFFF"/>
                </a:solidFill>
              </a:rPr>
              <a:t>strategies/          - 매매 전략 모듈 (base, ma, rsi_macd, condition, ml, ai_analyzer, runner)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097280"/>
            <a:ext cx="4572000" cy="5029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Architecture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[Browser/Client]</a:t>
            </a:r>
            <a:br/>
            <a:r>
              <a:t>       |</a:t>
            </a:r>
            <a:br/>
            <a:r>
              <a:t>  Flask Web Server (run.py:6001)</a:t>
            </a:r>
            <a:br/>
            <a:r>
              <a:t>    |-- /api/balance</a:t>
            </a:r>
            <a:br/>
            <a:r>
              <a:t>    |-- /api/market-prices</a:t>
            </a:r>
            <a:br/>
            <a:r>
              <a:t>    |-- /api/strategies (CRUD)</a:t>
            </a:r>
            <a:br/>
            <a:r>
              <a:t>    |-- /api/auction/stream (SSE)</a:t>
            </a:r>
            <a:br/>
            <a:r>
              <a:t>    |-- /api/settings/mode</a:t>
            </a:r>
            <a:br/>
            <a:r>
              <a:t>       |</a:t>
            </a:r>
            <a:br/>
            <a:r>
              <a:t>  APScheduler (Background)</a:t>
            </a:r>
            <a:br/>
            <a:r>
              <a:t>    |-- run_strategies (60s)</a:t>
            </a:r>
            <a:br/>
            <a:r>
              <a:t>    |-- check_auction (30s)</a:t>
            </a:r>
            <a:br/>
            <a:r>
              <a:t>    |-- expire_alerts (60s)</a:t>
            </a:r>
            <a:br/>
            <a:r>
              <a:t>    |-- retrain_ml (03:00 daily)</a:t>
            </a:r>
            <a:br/>
            <a:r>
              <a:t>       |</a:t>
            </a:r>
            <a:br/>
            <a:r>
              <a:t>  KIS Open API (REST)</a:t>
            </a:r>
            <a:br/>
            <a:r>
              <a:t>    |-- 현재가/일봉/주문/잔고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3. 핵심 모듈: KIS API 래퍼 (kis_api.py)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한국투자증권 Open API를 추상화한 Python 래퍼. 토큰 자동 갱신, 모의/실전 URL 자동 전환.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get_token(mode)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002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OAuth 토큰 발급/갱신. DB 캐시로 만료 5분 전 자동 재발급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1124712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</a:defRPr>
            </a:pPr>
            <a:r>
              <a:t>get_current_price(code, 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종목 현재가 조회 (가격/등락률/거래량/고가/저가/시가)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1124712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</a:defRPr>
            </a:pPr>
            <a:r>
              <a:t>get_daily_ohlcv(code, mode, count, period)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718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일봉/주봉/월봉 OHLCV 데이터. 최대 100개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11880"/>
            <a:ext cx="1124712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</a:defRPr>
            </a:pPr>
            <a:r>
              <a:t>place_order(code, type, price, qty, mode)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6576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매수/매도 주문 실행. 지정가(00)/시장가(01)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1124712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get_index_price(index_code, 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3434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업종 지수 조회 (코스피 0001 / 코스닥 1001)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83480"/>
            <a:ext cx="1124712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</a:defRPr>
            </a:pPr>
            <a:r>
              <a:t>get_volume_rank(mode)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0292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거래량 상위 30종목 조회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669280"/>
            <a:ext cx="1124712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</a:defRPr>
            </a:pPr>
            <a:r>
              <a:t>get_balance(mode)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7150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계좌 잔고 조회 (보유종목/평단/수익률)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69280"/>
            <a:ext cx="11247120" cy="5486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E66D"/>
                </a:solidFill>
              </a:defRPr>
            </a:pPr>
            <a:r>
              <a:t>핵심: _credentials(mode)로 paper/real 자동 분기  |  _headers()에 tr_id 매핑  |  KisToken 모델로 DB 캐싱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4. 데이터 모델 (models.py)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749039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34747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id, name, stock_code, stock_name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strategy_type: ma | rsi_macd | condition | ml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params: JSON (전략별 파라미터)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is_active, mode (paper/real)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749039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</a:defRPr>
            </a:pPr>
            <a:r>
              <a:t>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34747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id, strategy_id (FK), stock_code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order_type: buy | sell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status: pending | submitted | filled | cancelled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trigger: auto | auction_manual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kis_order_no: KIS 주문번호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749039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18872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</a:defRPr>
            </a:pPr>
            <a:r>
              <a:t>AuctionAlert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34747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strategy_id, stock_code, stock_name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suggested_action/price/qty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ai_confidence (0~100), ai_score (-100~+100)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ai_summary, ai_factors (JSON)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user_decision, expires_at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114800"/>
            <a:ext cx="3749039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</a:defRPr>
            </a:pPr>
            <a:r>
              <a:t>PortfolioSnapshot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0"/>
            <a:ext cx="34747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mode, stock_code, quantity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avg_price, current_price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snapped_at (스냅샷 시점)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114800"/>
            <a:ext cx="3749039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20624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KisToken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572000"/>
            <a:ext cx="34747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mode (paper/real, unique)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access_token, expires_at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OAuth 토큰 DB 캐싱용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5. 매매 전략 엔진 (strategies/)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BaseStrategy 추상 클래스를 상속한 4가지 전략. should_buy() / should_sell() 인터페이스로 통일.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57607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MAStrategy (이동평균)  [ma_strategy.py]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단기/장기 이동평균선 계산 (기본 5일/20일)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골든크로스 -&gt; 매수 신호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데드크로스 -&gt; 매도 신호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pandas rolling().mean() 활용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7607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</a:defRPr>
            </a:pPr>
            <a:r>
              <a:t>RsiMacdStrategy (RSI+MACD)  [rsi_macd.py]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RSI 과매도(30) + MACD 상향돌파 -&gt; 매수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RSI 과매수(70) + MACD 하향돌파 -&gt; 매도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ta 라이브러리로 지표 계산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파라미터 커스터마이징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023360"/>
            <a:ext cx="57607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</a:defRPr>
            </a:pPr>
            <a:r>
              <a:t>ConditionStrategy (조건식)  [condition.py]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사용자 정의 조건식 평가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indicator + operator + value 구조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&gt;, &lt;, &gt;=, &lt;=, == 연산자 지원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action: buy / sell / both 설정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7607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</a:defRPr>
            </a:pPr>
            <a:r>
              <a:t>MLStrategy (머신러닝)  [ml_strategy.py]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RandomForest 분류기 (scikit-learn)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피처: MA5/20/60, RSI, MACD, 거래량비율, 수익률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매일 03시 자동 재학습 (CronTrigger)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확률 임계값으로 매수/매도 판단 (0.65/0.35)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5760720"/>
            <a:ext cx="1161288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6D"/>
                </a:solidFill>
              </a:defRPr>
            </a:pPr>
            <a:r>
              <a:t>BaseStrategy 공통: get_quantity() | check_stop_loss(stop_loss_pct, 기본 -5%) | check_take_profit(take_profit_pct, 기본 +10%)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6. RAG AI 분석기 (ai_analyzer.py)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8가지 팩터를 분석하고 가중 합산하여 매수/매도/관망을 추천. 신뢰도와 근거 텍스트를 자동 생성.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77724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이동평균 추세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508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6D"/>
                </a:solidFill>
              </a:defRPr>
            </a:pPr>
            <a: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골든/데드크로스, 정배열/역배열, 60일선 위치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29968"/>
            <a:ext cx="77724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75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</a:defRPr>
            </a:pPr>
            <a:r>
              <a:t>RSI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756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6D"/>
                </a:solidFill>
              </a:defRPr>
            </a:pPr>
            <a:r>
              <a:t>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756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과매수/과매도 (20/30/70/80), RSI 추세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96896"/>
            <a:ext cx="77724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</a:defRPr>
            </a:pPr>
            <a:r>
              <a:t>MACD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426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6D"/>
                </a:solidFill>
              </a:defRPr>
            </a:pPr>
            <a: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426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히스토그램 양/음 전환, 매수/매도세 확대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63824"/>
            <a:ext cx="77724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09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</a:defRPr>
            </a:pPr>
            <a:r>
              <a:t>거래량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2095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6D"/>
                </a:solidFill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20954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거래량 폭발(3x), 증가(1.5x), 부진(0.5x)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30752"/>
            <a:ext cx="77724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76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</a:defRPr>
            </a:pPr>
            <a:r>
              <a:t>모멘텀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7764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6D"/>
                </a:solidFill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7764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5일/20일 수익률, 과열 경고, 저점 반등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97680"/>
            <a:ext cx="77724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6D"/>
                </a:solidFill>
              </a:defRPr>
            </a:pPr>
            <a:r>
              <a:t>변동성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343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6D"/>
                </a:solidFill>
              </a:defRPr>
            </a:pPr>
            <a: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343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ATR 기반, 고변동(&gt;5%), 안정(&lt;1.5%)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64608"/>
            <a:ext cx="77724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10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캔들 패턴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910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6D"/>
                </a:solidFill>
              </a:defRPr>
            </a:pPr>
            <a:r>
              <a:t>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9103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망치형, 교수형, 도지, 3일 연속 양/음봉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31536"/>
            <a:ext cx="77724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477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</a:defRPr>
            </a:pPr>
            <a:r>
              <a:t>당일 등락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4772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6D"/>
                </a:solidFill>
              </a:defRPr>
            </a:pPr>
            <a:r>
              <a:t>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47725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급등/급락 분석, 장중 고/저점 위치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1463040"/>
            <a:ext cx="3474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15544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</a:defRPr>
            </a:pPr>
            <a:r>
              <a:t>판단 로직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19202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각 팩터 점수: -100 ~ +100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가중 합산 -&gt; total_score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score &gt;= 20 -&gt; 매수 (buy)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score &lt;= -20 -&gt; 매도 (sell)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-20 &lt; score &lt; 20 -&gt; 관망 (hold)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신뢰도 = |score|*0.7 + 일치도*30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최대 95%까지 캡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요약 텍스트 자동 생성 (5줄)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7. 스케줄러 &amp; 자동화 (scheduler.py)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APScheduler BackgroundScheduler로 4개의 자동 Job을 관리. Asia/Seoul 타임존.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57607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run_strategies  (60초 간격 (IntervalTrigger))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장중(09:00~15:30) &amp; 비경매 시간에만 실행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활성 전략 순회 -&gt; 지표 계산 -&gt; 매매 신호 판단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보유 종목 손절/익절 우선 체크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주문 실행 후 Order 레코드 기록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7607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</a:defRPr>
            </a:pPr>
            <a:r>
              <a:t>check_auction_and_alert  (30초 간격 (IntervalTrigger))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경매 시간(08:00~09:00, 15:20~15:30)에만 실행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활성 전략별 AI 분석 수행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AuctionAlert 생성 -&gt; SSE로 브로드캐스트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사용자 결정 대기 (buy/sell/pass)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023360"/>
            <a:ext cx="57607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</a:defRPr>
            </a:pPr>
            <a:r>
              <a:t>expire_undecided_alerts  (60초 간격 (IntervalTrigger))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만료 시간 초과 미결정 알림 자동 pass 처리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DB 일괄 업데이트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760720" cy="23774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</a:defRPr>
            </a:pPr>
            <a:r>
              <a:t>retrain_ml_models  (매일 03:00 (CronTrigger))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ML 전략 종목 120일 데이터로 재학습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RandomForest 모델 joblib 저장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피처: MA, RSI, MACD, 거래량비율, 수익률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8. 웹 API &amp; 라우터 (routers/)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5760720" cy="2926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Dashboard (dashboard.py)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630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/                    -&gt; 대시보드 HTML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/api/balance         -&gt; 계좌 잔고 조회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/api/market-prices   -&gt; 코스피/코스닥 + 종목 시세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/api/market-ranking  -&gt; 거래량 상위 종목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/api/stock-price/&lt;code&gt; -&gt; 개별 종목 시세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760720" cy="3657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</a:defRPr>
            </a:pPr>
            <a:r>
              <a:t>Strategies (strategies.py)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630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 /strategies/                      -&gt; 전략 관리 HTML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 /api/strategies                    -&gt; 전략 목록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POST /api/strategies                    -&gt; 전략 등록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PUT  /api/strategies/&lt;id&gt;               -&gt; 전략 수정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DELETE /api/strategies/&lt;id&gt;             -&gt; 전략 삭제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POST /api/strategies/&lt;id&gt;/toggle        -&gt; 활성/비활성 토글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 /api/strategies/&lt;id&gt;/chart          -&gt; 차트 데이터 (OHLCV + 지표)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 /api/strategies/&lt;id&gt;/ai-analyze     -&gt; AI 분석 수동 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846320"/>
            <a:ext cx="57607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</a:defRPr>
            </a:pPr>
            <a:r>
              <a:t>Orders (orders.py)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303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/orders/         -&gt; 주문 내역 HTML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/api/orders      -&gt; 주문 목록 (mode/trigger 필터)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46320"/>
            <a:ext cx="57607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37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</a:defRPr>
            </a:pPr>
            <a:r>
              <a:t>Settings (settings.py)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303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 /api/settings/mode         -&gt; 현재 모드 조회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POST /api/settings/mode         -&gt; paper/real 전환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POST /api/settings/token-refresh -&gt; 토큰 캐시 초기화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9. 실시간 경매 알림 (SSE) - auction.py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Server-Sent Events를 활용한 실시간 경매 알림 시스템. 반자동 의사결정 지원.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5760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SSE 스트림 구조 (auction.py)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_sse_clients: List[Queue] - 연결된 클라이언트 큐 관리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threading.Lock으로 동시성 보호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GET /api/auction/stream -&gt; SSE 스트림 연결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broadcast_auction(alert_id) -&gt; 모든 클라이언트에 푸시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Queue(maxsize=20) per client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30초 간격 ping (: ping) 으로 연결 유지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GeneratorExit 시 자동 클린업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Dead queue 감지 후 제거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66928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</a:defRPr>
            </a:pPr>
            <a:r>
              <a:t>반자동 의사결정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1. 스케줄러 -&gt; check_auction_and_alert() 호출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2. 활성 전략별 AI 분석 (analyze_stock)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3. AuctionAlert 생성 (DB 저장)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4. broadcast_auction() -&gt; SSE 푸시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5. 브라우저에서 알림 수신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6. 사용자가 buy/sell/pass 결정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7. POST /api/auction/decide/&lt;id&gt;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8. buy/sell 시 KIS API 주문 실행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9. Order 레코드 자동 생성 (trigger=auction_manual)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10. 미결정 알림은 자동 만료 (pass)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10. 시스템 흐름도 (End-to-End 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749039" cy="5029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자동매매 흐름 (장중 09:00~15:30)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347471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1. APScheduler 60초 마다 트리거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2. is_market_hours() 체크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3. DB에서 활성 전략 조회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4. KIS API로 OHLCV + 현재가 조회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5. Strategy 엔진 실행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   - 보유 종목: 손절/익절 체크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   - should_sell() 체크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   - should_buy() 체크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6. place_order() 실행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7. Order 레코드 DB 기록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749039" cy="5029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</a:defRPr>
            </a:pPr>
            <a:r>
              <a:t>경매 알림 흐름 (08:00~09:00 / 15:20~15:30)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347471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1. APScheduler 30초 마다 트리거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2. is_auction_time() 체크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3. 활성 전략별 AI 분석 수행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4. 8가지 팩터 가중 합산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5. AuctionAlert 생성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6. SSE로 클라이언트 브로드캐스트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7. 사용자 결정 대기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8. 결정 시 주문 실행 or pass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9. 미결정 시 자동 만료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749039" cy="5029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18872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</a:defRPr>
            </a:pPr>
            <a:r>
              <a:t>ML 모델 학습 흐름 (매일 03:00)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347471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1. CronTrigger(hour=3) 실행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2. ML 전략 종목 조회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3. KIS API로 120일 OHLCV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4. 피처 엔지니어링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   - MA5/20/60, RSI, MACD diff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   - 거래량 비율, 1일/5일 수익률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5. 타겟: 다음날 상승 여부 (0/1)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6. RandomForest(100 trees) 학습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7. joblib으로 모델 저장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8. 다음 장중에 예측 사용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11. 주요 특징 &amp; 개선 포인트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576072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</a:defRPr>
            </a:pPr>
            <a:r>
              <a:t>주요 특징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모의/실전 투자 모드 런타임 전환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4가지 매매 전략 + AI 분석기 (8팩터)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SSE 기반 실시간 경매 알림 (반자동 매매)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ML 모델 자동 재학습 (새벽 3시)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손절(-5%) / 익절(+10%) 자동 관리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Flask Blueprint로 모듈 분리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E696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토큰 DB 캐싱으로 API 호출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66928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개선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SQLite -&gt; PostgreSQL 전환 (동시성)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비동기 처리 (asyncio/Celery)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웹소켓 실시간 시세 (KIS WebSocket API)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백테스팅 모듈 추가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사용자 인증/권한 관리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Docker 컨테이너화 &amp; CI/CD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6B6B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모니터링/로깅 강화 (Prometheus/Grafana)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114800"/>
            <a:ext cx="36576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코드 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5720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Python 소스 파일: 16개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DB 모델: 5개 테이블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API 엔드포인트: 15개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매매 전략: 4종류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AI 분석 팩터: 8개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0D2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스케줄러 Job: 4개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114800"/>
            <a:ext cx="3749039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20624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4DFF"/>
                </a:solidFill>
              </a:defRPr>
            </a:pPr>
            <a:r>
              <a:t>디자인 패턴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572000"/>
            <a:ext cx="34747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Factory Pattern (create_app)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Strategy Pattern (BaseStrategy 상속)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Observer Pattern (SSE broadcast)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Template Method (should_buy/sell)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7C4DFF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Caching (토큰 DB 캐싱)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8404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206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</a:defRPr>
            </a:pPr>
            <a:r>
              <a:t>핵심 의존성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457200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Flask 3.1 + SQLAlchemy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APScheduler 3.10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pandas + ta (기술적 지표)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scikit-learn (RandomForest)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FF9F43"/>
                </a:solidFill>
              </a:rPr>
              <a:t>  &gt;  </a:t>
            </a:r>
            <a:r>
              <a:rPr sz="1300">
                <a:solidFill>
                  <a:srgbClr val="CCCCCC"/>
                </a:solidFill>
              </a:rPr>
              <a:t>requests (KIS API 통신)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